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8A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EAF-462A-966A-4C0C2B3715EA}"/>
              </c:ext>
            </c:extLst>
          </c:dPt>
          <c:dPt>
            <c:idx val="1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EAF-462A-966A-4C0C2B3715E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EAF-462A-966A-4C0C2B3715E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EAF-462A-966A-4C0C2B3715E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On-Time (78.9%)</c:v>
                </c:pt>
                <c:pt idx="1">
                  <c:v>Delayed (21.1%)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22071</c:v>
                </c:pt>
                <c:pt idx="1">
                  <c:v>5908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EAF-462A-966A-4C0C2B3715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103427288980004E-4"/>
          <c:y val="0.87390293318598333"/>
          <c:w val="0.51004864201757394"/>
          <c:h val="8.2237417691209652E-2"/>
        </c:manualLayout>
      </c:layout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2F8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0A193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Road Construction</c:v>
                </c:pt>
                <c:pt idx="1">
                  <c:v>Vehicle Breakdown</c:v>
                </c:pt>
                <c:pt idx="2">
                  <c:v>Package Sorting Error</c:v>
                </c:pt>
                <c:pt idx="3">
                  <c:v>Driver Unavailable</c:v>
                </c:pt>
                <c:pt idx="4">
                  <c:v>Hub Processing Delay</c:v>
                </c:pt>
                <c:pt idx="5">
                  <c:v>Multiple Stops</c:v>
                </c:pt>
                <c:pt idx="6">
                  <c:v>Severe Weather</c:v>
                </c:pt>
                <c:pt idx="7">
                  <c:v>Customer Not Home</c:v>
                </c:pt>
                <c:pt idx="8">
                  <c:v>Traffic Congestion</c:v>
                </c:pt>
                <c:pt idx="9">
                  <c:v>Incorrect Address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623</c:v>
                </c:pt>
                <c:pt idx="1">
                  <c:v>623</c:v>
                </c:pt>
                <c:pt idx="2">
                  <c:v>603</c:v>
                </c:pt>
                <c:pt idx="3">
                  <c:v>595</c:v>
                </c:pt>
                <c:pt idx="4">
                  <c:v>589</c:v>
                </c:pt>
                <c:pt idx="5">
                  <c:v>586</c:v>
                </c:pt>
                <c:pt idx="6">
                  <c:v>585</c:v>
                </c:pt>
                <c:pt idx="7">
                  <c:v>583</c:v>
                </c:pt>
                <c:pt idx="8">
                  <c:v>576</c:v>
                </c:pt>
                <c:pt idx="9">
                  <c:v>545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6C-45C7-BC87-398D3C32BBA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2F8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1A8A9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9CF-46B8-8FAB-C5F6B84EFC54}"/>
              </c:ext>
            </c:extLst>
          </c:dPt>
          <c:dPt>
            <c:idx val="1"/>
            <c:invertIfNegative val="0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9CF-46B8-8FAB-C5F6B84EFC54}"/>
              </c:ext>
            </c:extLst>
          </c:dPt>
          <c:dPt>
            <c:idx val="2"/>
            <c:invertIfNegative val="0"/>
            <c:bubble3D val="0"/>
            <c:spPr>
              <a:solidFill>
                <a:srgbClr val="5DADE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9CF-46B8-8FAB-C5F6B84EFC54}"/>
              </c:ext>
            </c:extLst>
          </c:dPt>
          <c:dPt>
            <c:idx val="3"/>
            <c:invertIfNegative val="0"/>
            <c:bubble3D val="0"/>
            <c:spPr>
              <a:solidFill>
                <a:srgbClr val="0A193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9CF-46B8-8FAB-C5F6B84EFC54}"/>
              </c:ext>
            </c:extLst>
          </c:dPt>
          <c:dPt>
            <c:idx val="4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9CF-46B8-8FAB-C5F6B84EFC54}"/>
              </c:ext>
            </c:extLst>
          </c:dPt>
          <c:dPt>
            <c:idx val="5"/>
            <c:invertIfNegative val="0"/>
            <c:bubble3D val="0"/>
            <c:spPr>
              <a:solidFill>
                <a:srgbClr val="1E84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9CF-46B8-8FAB-C5F6B84EFC5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A193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Dallas</c:v>
                </c:pt>
                <c:pt idx="1">
                  <c:v>Houston</c:v>
                </c:pt>
                <c:pt idx="2">
                  <c:v>Austin</c:v>
                </c:pt>
                <c:pt idx="3">
                  <c:v>San Antonio</c:v>
                </c:pt>
                <c:pt idx="4">
                  <c:v>Fort Worth</c:v>
                </c:pt>
                <c:pt idx="5">
                  <c:v>El Paso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7345</c:v>
                </c:pt>
                <c:pt idx="1">
                  <c:v>6875</c:v>
                </c:pt>
                <c:pt idx="2">
                  <c:v>4065</c:v>
                </c:pt>
                <c:pt idx="3">
                  <c:v>3721</c:v>
                </c:pt>
                <c:pt idx="4">
                  <c:v>3255</c:v>
                </c:pt>
                <c:pt idx="5">
                  <c:v>2718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9CF-46B8-8FAB-C5F6B84EFC5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2F8F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On-Time %</c:v>
                </c:pt>
              </c:strCache>
            </c:strRef>
          </c:tx>
          <c:spPr>
            <a:solidFill>
              <a:srgbClr val="1E844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0A193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Dallas</c:v>
                </c:pt>
                <c:pt idx="1">
                  <c:v>Houston</c:v>
                </c:pt>
                <c:pt idx="2">
                  <c:v>Austin</c:v>
                </c:pt>
                <c:pt idx="3">
                  <c:v>San Antonio</c:v>
                </c:pt>
                <c:pt idx="4">
                  <c:v>Fort Worth</c:v>
                </c:pt>
                <c:pt idx="5">
                  <c:v>El Paso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78.900000000000006</c:v>
                </c:pt>
                <c:pt idx="1">
                  <c:v>79.099999999999994</c:v>
                </c:pt>
                <c:pt idx="2">
                  <c:v>77.900000000000006</c:v>
                </c:pt>
                <c:pt idx="3">
                  <c:v>78.7</c:v>
                </c:pt>
                <c:pt idx="4">
                  <c:v>78.5</c:v>
                </c:pt>
                <c:pt idx="5">
                  <c:v>80.599999999999994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84-4023-B974-69870F7845A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5"/>
          <c:min val="75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2F8FA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84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26F-4E54-BA1A-7E0F15E2666E}"/>
              </c:ext>
            </c:extLst>
          </c:dPt>
          <c:dPt>
            <c:idx val="1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26F-4E54-BA1A-7E0F15E2666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26F-4E54-BA1A-7E0F15E2666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26F-4E54-BA1A-7E0F15E2666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Active (72%)</c:v>
                </c:pt>
                <c:pt idx="1">
                  <c:v>In Maintenance (28%)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26F-4E54-BA1A-7E0F15E266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2F8F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1A8A9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520-4235-81CD-B44B36621619}"/>
              </c:ext>
            </c:extLst>
          </c:dPt>
          <c:dPt>
            <c:idx val="1"/>
            <c:invertIfNegative val="0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520-4235-81CD-B44B36621619}"/>
              </c:ext>
            </c:extLst>
          </c:dPt>
          <c:dPt>
            <c:idx val="2"/>
            <c:invertIfNegative val="0"/>
            <c:bubble3D val="0"/>
            <c:spPr>
              <a:solidFill>
                <a:srgbClr val="5DADE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520-4235-81CD-B44B36621619}"/>
              </c:ext>
            </c:extLst>
          </c:dPt>
          <c:dPt>
            <c:idx val="3"/>
            <c:invertIfNegative val="0"/>
            <c:bubble3D val="0"/>
            <c:spPr>
              <a:solidFill>
                <a:srgbClr val="0A193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520-4235-81CD-B44B3662161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A193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Van</c:v>
                </c:pt>
                <c:pt idx="1">
                  <c:v>Truck</c:v>
                </c:pt>
                <c:pt idx="2">
                  <c:v>Pickup</c:v>
                </c:pt>
                <c:pt idx="3">
                  <c:v>Box Truck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17480</c:v>
                </c:pt>
                <c:pt idx="1">
                  <c:v>6531</c:v>
                </c:pt>
                <c:pt idx="2">
                  <c:v>2837</c:v>
                </c:pt>
                <c:pt idx="3">
                  <c:v>1131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520-4235-81CD-B44B3662161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2F8F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Models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A193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4F8-454C-8A07-89E40C317E49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4F8-454C-8A07-89E40C317E49}"/>
              </c:ext>
            </c:extLst>
          </c:dPt>
          <c:dPt>
            <c:idx val="2"/>
            <c:bubble3D val="0"/>
            <c:spPr>
              <a:solidFill>
                <a:srgbClr val="1A8A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4F8-454C-8A07-89E40C317E49}"/>
              </c:ext>
            </c:extLst>
          </c:dPt>
          <c:dPt>
            <c:idx val="3"/>
            <c:bubble3D val="0"/>
            <c:spPr>
              <a:solidFill>
                <a:srgbClr val="5DADE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4F8-454C-8A07-89E40C317E49}"/>
              </c:ext>
            </c:extLst>
          </c:dPt>
          <c:dPt>
            <c:idx val="4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4F8-454C-8A07-89E40C317E49}"/>
              </c:ext>
            </c:extLst>
          </c:dPt>
          <c:dPt>
            <c:idx val="5"/>
            <c:bubble3D val="0"/>
            <c:spPr>
              <a:solidFill>
                <a:srgbClr val="1E84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4F8-454C-8A07-89E40C317E4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4F8-454C-8A07-89E40C317E4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4F8-454C-8A07-89E40C317E4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4F8-454C-8A07-89E40C317E49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4F8-454C-8A07-89E40C317E49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4F8-454C-8A07-89E40C317E49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4F8-454C-8A07-89E40C317E4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Mercedes Sprinter</c:v>
                </c:pt>
                <c:pt idx="1">
                  <c:v>Freightliner M2</c:v>
                </c:pt>
                <c:pt idx="2">
                  <c:v>Ford Transit</c:v>
                </c:pt>
                <c:pt idx="3">
                  <c:v>Chevrolet Express</c:v>
                </c:pt>
                <c:pt idx="4">
                  <c:v>International DuraStar</c:v>
                </c:pt>
                <c:pt idx="5">
                  <c:v>Others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</c:v>
                </c:pt>
                <c:pt idx="1">
                  <c:v>8</c:v>
                </c:pt>
                <c:pt idx="2">
                  <c:v>6</c:v>
                </c:pt>
                <c:pt idx="3">
                  <c:v>4</c:v>
                </c:pt>
                <c:pt idx="4">
                  <c:v>4</c:v>
                </c:pt>
                <c:pt idx="5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4F8-454C-8A07-89E40C317E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2F8FA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A193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F64-431D-9152-67B9A7EA72BC}"/>
              </c:ext>
            </c:extLst>
          </c:dPt>
          <c:dPt>
            <c:idx val="1"/>
            <c:bubble3D val="0"/>
            <c:spPr>
              <a:solidFill>
                <a:srgbClr val="1A8A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F64-431D-9152-67B9A7EA72BC}"/>
              </c:ext>
            </c:extLst>
          </c:dPt>
          <c:dPt>
            <c:idx val="2"/>
            <c:bubble3D val="0"/>
            <c:spPr>
              <a:solidFill>
                <a:srgbClr val="5DADE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F64-431D-9152-67B9A7EA72B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F64-431D-9152-67B9A7EA72B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F64-431D-9152-67B9A7EA72BC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F64-431D-9152-67B9A7EA72B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Full-Time (85%)</c:v>
                </c:pt>
                <c:pt idx="1">
                  <c:v>Part-Time (11%)</c:v>
                </c:pt>
                <c:pt idx="2">
                  <c:v>Contract (4%)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</c:v>
                </c:pt>
                <c:pt idx="1">
                  <c:v>6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F64-431D-9152-67B9A7EA72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2F8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9911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0" y="0"/>
            <a:ext cx="59436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4" name="Shape 1"/>
          <p:cNvSpPr/>
          <p:nvPr/>
        </p:nvSpPr>
        <p:spPr>
          <a:xfrm>
            <a:off x="3657600" y="0"/>
            <a:ext cx="731520" cy="5143500"/>
          </a:xfrm>
          <a:prstGeom prst="rect">
            <a:avLst/>
          </a:prstGeom>
          <a:solidFill>
            <a:srgbClr val="0A1931">
              <a:alpha val="6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3200400" y="0"/>
            <a:ext cx="5943600" cy="5143500"/>
          </a:xfrm>
          <a:prstGeom prst="rect">
            <a:avLst/>
          </a:prstGeom>
          <a:solidFill>
            <a:srgbClr val="0A1931">
              <a:alpha val="4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8A9A"/>
          </a:solidFill>
          <a:ln/>
        </p:spPr>
      </p:sp>
      <p:sp>
        <p:nvSpPr>
          <p:cNvPr id="7" name="Shape 4"/>
          <p:cNvSpPr/>
          <p:nvPr/>
        </p:nvSpPr>
        <p:spPr>
          <a:xfrm>
            <a:off x="91440" y="0"/>
            <a:ext cx="9052560" cy="45720"/>
          </a:xfrm>
          <a:prstGeom prst="rect">
            <a:avLst/>
          </a:prstGeom>
          <a:solidFill>
            <a:srgbClr val="1A8A9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01168" y="201168"/>
            <a:ext cx="2560320" cy="78638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01168" y="1097280"/>
            <a:ext cx="2377440" cy="27432"/>
          </a:xfrm>
          <a:prstGeom prst="rect">
            <a:avLst/>
          </a:prstGeom>
          <a:solidFill>
            <a:srgbClr val="1A8A9A">
              <a:alpha val="7000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201168" y="1207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400" normalizeH="0" baseline="0" noProof="0" dirty="0">
                <a:ln>
                  <a:noFill/>
                </a:ln>
                <a:solidFill>
                  <a:srgbClr val="1A8A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OPERATIONS REVIEW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7"/>
          <p:cNvSpPr/>
          <p:nvPr/>
        </p:nvSpPr>
        <p:spPr>
          <a:xfrm>
            <a:off x="201168" y="1508760"/>
            <a:ext cx="4023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Transport &amp;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Logistics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Operations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8"/>
          <p:cNvSpPr/>
          <p:nvPr/>
        </p:nvSpPr>
        <p:spPr>
          <a:xfrm>
            <a:off x="201168" y="345643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D4E6F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Performance Analysis  ·  Dashboard Presentation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201168" y="3931920"/>
            <a:ext cx="2560320" cy="36576"/>
          </a:xfrm>
          <a:prstGeom prst="rect">
            <a:avLst/>
          </a:prstGeom>
          <a:solidFill>
            <a:srgbClr val="5DADE2"/>
          </a:solidFill>
          <a:ln/>
        </p:spPr>
      </p:sp>
      <p:sp>
        <p:nvSpPr>
          <p:cNvPr id="14" name="Text 10"/>
          <p:cNvSpPr/>
          <p:nvPr/>
        </p:nvSpPr>
        <p:spPr>
          <a:xfrm>
            <a:off x="201168" y="4041648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DADE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27,979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201168" y="4407408"/>
            <a:ext cx="1243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D4E6F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Orders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1499616" y="4041648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DADE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78.9%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1499616" y="4407408"/>
            <a:ext cx="1243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D4E6F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On-Time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2798064" y="4041648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DADE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4.17/5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2798064" y="4407408"/>
            <a:ext cx="1243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D4E6F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Satisfaction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91627"/>
          </a:solidFill>
          <a:ln/>
        </p:spPr>
      </p:sp>
      <p:sp>
        <p:nvSpPr>
          <p:cNvPr id="21" name="Text 17"/>
          <p:cNvSpPr/>
          <p:nvPr/>
        </p:nvSpPr>
        <p:spPr>
          <a:xfrm>
            <a:off x="201168" y="483717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7F8C8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Hubs  ·  55 Drivers  ·  4 Vehicle Types  ·  Texas Region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5943600" y="483717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50" dirty="0">
                <a:solidFill>
                  <a:srgbClr val="1A8A9A"/>
                </a:solidFill>
                <a:latin typeface="Calibri" panose="020F0502020204030204"/>
              </a:rPr>
              <a:t>.SAGE Inc. Prepared by Sayo, Annie, George, Eniola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1A8A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· 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Executive Overview — About This Presentation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" y="777240"/>
            <a:ext cx="4846320" cy="4206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" y="777240"/>
            <a:ext cx="91440" cy="4206240"/>
          </a:xfrm>
          <a:prstGeom prst="rect">
            <a:avLst/>
          </a:prstGeom>
          <a:solidFill>
            <a:srgbClr val="1A8A9A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86868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931"/>
                </a:solidFill>
              </a:rPr>
              <a:t>What This Analysis Covers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" y="1207008"/>
            <a:ext cx="44805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931"/>
                </a:solidFill>
              </a:rPr>
              <a:t>This presentation analyses the operational performance of a transport and logistics company operating through a hub-and-spoke distribution model across Texas. The analysis evaluates six key dimensions: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7472" y="2029968"/>
            <a:ext cx="4434840" cy="402336"/>
          </a:xfrm>
          <a:prstGeom prst="rect">
            <a:avLst/>
          </a:prstGeom>
          <a:solidFill>
            <a:srgbClr val="F2F8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8912" y="206654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931"/>
                </a:solidFill>
              </a:rPr>
              <a:t>📦  Delivery Efficiency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44368" y="206654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F8C8D"/>
                </a:solidFill>
              </a:rPr>
              <a:t>On-time vs delayed rates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7472" y="2487168"/>
            <a:ext cx="4434840" cy="40233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8912" y="252374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931"/>
                </a:solidFill>
              </a:rPr>
              <a:t>⏱  Delay Performance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44368" y="252374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F8C8D"/>
                </a:solidFill>
              </a:rPr>
              <a:t>Root causes &amp; frequency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7472" y="2944368"/>
            <a:ext cx="4434840" cy="402336"/>
          </a:xfrm>
          <a:prstGeom prst="rect">
            <a:avLst/>
          </a:prstGeom>
          <a:solidFill>
            <a:srgbClr val="F2F8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38912" y="298094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931"/>
                </a:solidFill>
              </a:rPr>
              <a:t>🏭  Hub Operations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944368" y="298094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F8C8D"/>
                </a:solidFill>
              </a:rPr>
              <a:t>Workload &amp; capacity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7472" y="3401568"/>
            <a:ext cx="4434840" cy="40233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38912" y="343814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931"/>
                </a:solidFill>
              </a:rPr>
              <a:t>🧑‍✈️  Driver Productivity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944368" y="343814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F8C8D"/>
                </a:solidFill>
              </a:rPr>
              <a:t>Performance &amp; experience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47472" y="3858768"/>
            <a:ext cx="4434840" cy="402336"/>
          </a:xfrm>
          <a:prstGeom prst="rect">
            <a:avLst/>
          </a:prstGeom>
          <a:solidFill>
            <a:srgbClr val="F2F8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38912" y="389534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931"/>
                </a:solidFill>
              </a:rPr>
              <a:t>⭐  Customer Satisfaction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944368" y="389534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F8C8D"/>
                </a:solidFill>
              </a:rPr>
              <a:t>Scores &amp; impact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47472" y="4315968"/>
            <a:ext cx="4434840" cy="40233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38912" y="435254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931"/>
                </a:solidFill>
              </a:rPr>
              <a:t>🔧  Operational Bottlenecks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944368" y="435254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F8C8D"/>
                </a:solidFill>
              </a:rPr>
              <a:t>Improvement opportunities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120640" y="777240"/>
            <a:ext cx="3886200" cy="1965960"/>
          </a:xfrm>
          <a:prstGeom prst="rect">
            <a:avLst/>
          </a:prstGeom>
          <a:solidFill>
            <a:srgbClr val="0A193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257800" y="868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8A9A"/>
                </a:solidFill>
              </a:rPr>
              <a:t>Presentation Goal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57800" y="118872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Identify areas affecting delivery reliability and customer experience, and recommend strategies to improve operational performance.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120640" y="2852928"/>
            <a:ext cx="3886200" cy="21305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120640" y="2852928"/>
            <a:ext cx="91440" cy="2130552"/>
          </a:xfrm>
          <a:prstGeom prst="rect">
            <a:avLst/>
          </a:prstGeom>
          <a:solidFill>
            <a:srgbClr val="5DADE2"/>
          </a:solidFill>
          <a:ln/>
        </p:spPr>
      </p:sp>
      <p:sp>
        <p:nvSpPr>
          <p:cNvPr id="31" name="Text 29"/>
          <p:cNvSpPr/>
          <p:nvPr/>
        </p:nvSpPr>
        <p:spPr>
          <a:xfrm>
            <a:off x="5303520" y="2926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931"/>
                </a:solidFill>
              </a:rPr>
              <a:t>Key Business Areas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03520" y="32735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931"/>
                </a:solidFill>
              </a:rPr>
              <a:t>🧑‍✈️  Drivers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178040" y="327355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F8C8D"/>
                </a:solidFill>
              </a:rPr>
              <a:t>Workforce Management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303520" y="369417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931"/>
                </a:solidFill>
              </a:rPr>
              <a:t>🏭  Hubs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178040" y="369417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F8C8D"/>
                </a:solidFill>
              </a:rPr>
              <a:t>Operational Infrastructure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303520" y="41148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931"/>
                </a:solidFill>
              </a:rPr>
              <a:t>📦  Orders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178040" y="41148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F8C8D"/>
                </a:solidFill>
              </a:rPr>
              <a:t>Core Revenue Activity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303520" y="453542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931"/>
                </a:solidFill>
              </a:rPr>
              <a:t>⭐  Customer Satisfaction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178040" y="453542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F8C8D"/>
                </a:solidFill>
              </a:rPr>
              <a:t>Service Quality Metric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Business Model Overview — Hub Distribution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" y="777240"/>
            <a:ext cx="8869680" cy="658368"/>
          </a:xfrm>
          <a:prstGeom prst="rect">
            <a:avLst/>
          </a:prstGeom>
          <a:solidFill>
            <a:srgbClr val="0A193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" y="777240"/>
            <a:ext cx="91440" cy="658368"/>
          </a:xfrm>
          <a:prstGeom prst="rect">
            <a:avLst/>
          </a:prstGeom>
          <a:solidFill>
            <a:srgbClr val="1A8A9A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795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8A9A"/>
                </a:solidFill>
              </a:rPr>
              <a:t>Operating Structure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" y="1060704"/>
            <a:ext cx="8458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6F1"/>
                </a:solidFill>
              </a:rPr>
              <a:t>The company operates a centralized logistics system where hubs process customer orders before dispatching them to drivers for final-mile delivery across Texas.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1572768"/>
            <a:ext cx="1719072" cy="1188720"/>
          </a:xfrm>
          <a:prstGeom prst="rect">
            <a:avLst/>
          </a:prstGeom>
          <a:solidFill>
            <a:srgbClr val="1A8A9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645920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🛒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2139696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Order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21992" y="2066544"/>
            <a:ext cx="365760" cy="54864"/>
          </a:xfrm>
          <a:prstGeom prst="rect">
            <a:avLst/>
          </a:prstGeom>
          <a:solidFill>
            <a:srgbClr val="5DADE2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1965960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ADE2"/>
                </a:solidFill>
              </a:rPr>
              <a:t>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87752" y="1572768"/>
            <a:ext cx="1719072" cy="1188720"/>
          </a:xfrm>
          <a:prstGeom prst="rect">
            <a:avLst/>
          </a:prstGeom>
          <a:solidFill>
            <a:srgbClr val="1B4F7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87752" y="1645920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🏭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587752" y="2139696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Hub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Processing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06824" y="2066544"/>
            <a:ext cx="365760" cy="54864"/>
          </a:xfrm>
          <a:prstGeom prst="rect">
            <a:avLst/>
          </a:prstGeom>
          <a:solidFill>
            <a:srgbClr val="5DADE2"/>
          </a:solidFill>
          <a:ln/>
        </p:spPr>
      </p:sp>
      <p:sp>
        <p:nvSpPr>
          <p:cNvPr id="17" name="Text 15"/>
          <p:cNvSpPr/>
          <p:nvPr/>
        </p:nvSpPr>
        <p:spPr>
          <a:xfrm>
            <a:off x="4553712" y="1965960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ADE2"/>
                </a:solidFill>
              </a:rPr>
              <a:t>▶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72584" y="1572768"/>
            <a:ext cx="1719072" cy="1188720"/>
          </a:xfrm>
          <a:prstGeom prst="rect">
            <a:avLst/>
          </a:prstGeom>
          <a:solidFill>
            <a:srgbClr val="0A193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72584" y="1645920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🚛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672584" y="2139696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Driver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Dispatch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91656" y="2066544"/>
            <a:ext cx="365760" cy="54864"/>
          </a:xfrm>
          <a:prstGeom prst="rect">
            <a:avLst/>
          </a:prstGeom>
          <a:solidFill>
            <a:srgbClr val="5DADE2"/>
          </a:solidFill>
          <a:ln/>
        </p:spPr>
      </p:sp>
      <p:sp>
        <p:nvSpPr>
          <p:cNvPr id="22" name="Text 20"/>
          <p:cNvSpPr/>
          <p:nvPr/>
        </p:nvSpPr>
        <p:spPr>
          <a:xfrm>
            <a:off x="6638544" y="1965960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ADE2"/>
                </a:solidFill>
              </a:rPr>
              <a:t>▶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57416" y="1572768"/>
            <a:ext cx="1719072" cy="1188720"/>
          </a:xfrm>
          <a:prstGeom prst="rect">
            <a:avLst/>
          </a:prstGeom>
          <a:solidFill>
            <a:srgbClr val="1E844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757416" y="1645920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757416" y="2139696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Final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Delivery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37160" y="2907792"/>
            <a:ext cx="2852928" cy="20756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37160" y="2907792"/>
            <a:ext cx="2852928" cy="347472"/>
          </a:xfrm>
          <a:prstGeom prst="rect">
            <a:avLst/>
          </a:prstGeom>
          <a:solidFill>
            <a:srgbClr val="1A8A9A"/>
          </a:solidFill>
          <a:ln/>
        </p:spPr>
      </p:sp>
      <p:sp>
        <p:nvSpPr>
          <p:cNvPr id="28" name="Text 26"/>
          <p:cNvSpPr/>
          <p:nvPr/>
        </p:nvSpPr>
        <p:spPr>
          <a:xfrm>
            <a:off x="228600" y="2926080"/>
            <a:ext cx="2670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1. Hubs — Distribution &amp; Processing Centers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46888" y="3310128"/>
            <a:ext cx="91440" cy="91440"/>
          </a:xfrm>
          <a:prstGeom prst="rect">
            <a:avLst/>
          </a:prstGeom>
          <a:solidFill>
            <a:srgbClr val="1A8A9A"/>
          </a:solidFill>
          <a:ln/>
        </p:spPr>
      </p:sp>
      <p:sp>
        <p:nvSpPr>
          <p:cNvPr id="30" name="Text 28"/>
          <p:cNvSpPr/>
          <p:nvPr/>
        </p:nvSpPr>
        <p:spPr>
          <a:xfrm>
            <a:off x="393192" y="3291840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1931"/>
                </a:solidFill>
              </a:rPr>
              <a:t>Serve as distribution and processing centers for the entire network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46888" y="3730752"/>
            <a:ext cx="91440" cy="91440"/>
          </a:xfrm>
          <a:prstGeom prst="rect">
            <a:avLst/>
          </a:prstGeom>
          <a:solidFill>
            <a:srgbClr val="1A8A9A"/>
          </a:solidFill>
          <a:ln/>
        </p:spPr>
      </p:sp>
      <p:sp>
        <p:nvSpPr>
          <p:cNvPr id="32" name="Text 30"/>
          <p:cNvSpPr/>
          <p:nvPr/>
        </p:nvSpPr>
        <p:spPr>
          <a:xfrm>
            <a:off x="393192" y="3712464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1931"/>
                </a:solidFill>
              </a:rPr>
              <a:t>Responsible for sorting orders and dispatching drivers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46888" y="4151376"/>
            <a:ext cx="91440" cy="91440"/>
          </a:xfrm>
          <a:prstGeom prst="rect">
            <a:avLst/>
          </a:prstGeom>
          <a:solidFill>
            <a:srgbClr val="1A8A9A"/>
          </a:solidFill>
          <a:ln/>
        </p:spPr>
      </p:sp>
      <p:sp>
        <p:nvSpPr>
          <p:cNvPr id="34" name="Text 32"/>
          <p:cNvSpPr/>
          <p:nvPr/>
        </p:nvSpPr>
        <p:spPr>
          <a:xfrm>
            <a:off x="393192" y="4133088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1931"/>
                </a:solidFill>
              </a:rPr>
              <a:t>Capacity and processing efficiency directly affect delivery timelines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46888" y="4572000"/>
            <a:ext cx="91440" cy="91440"/>
          </a:xfrm>
          <a:prstGeom prst="rect">
            <a:avLst/>
          </a:prstGeom>
          <a:solidFill>
            <a:srgbClr val="1A8A9A"/>
          </a:solidFill>
          <a:ln/>
        </p:spPr>
      </p:sp>
      <p:sp>
        <p:nvSpPr>
          <p:cNvPr id="36" name="Text 34"/>
          <p:cNvSpPr/>
          <p:nvPr/>
        </p:nvSpPr>
        <p:spPr>
          <a:xfrm>
            <a:off x="393192" y="4553712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1931"/>
                </a:solidFill>
              </a:rPr>
              <a:t>6 active hubs across Texas: Dallas, Houston, Austin, San Antonio, Fort Worth &amp; El Paso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108960" y="2907792"/>
            <a:ext cx="2852928" cy="20756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108960" y="2907792"/>
            <a:ext cx="2852928" cy="34747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9" name="Text 37"/>
          <p:cNvSpPr/>
          <p:nvPr/>
        </p:nvSpPr>
        <p:spPr>
          <a:xfrm>
            <a:off x="3200400" y="2926080"/>
            <a:ext cx="2670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2. Drivers — Final-Mile Delivery Workforce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18688" y="3310128"/>
            <a:ext cx="91440" cy="914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41" name="Text 39"/>
          <p:cNvSpPr/>
          <p:nvPr/>
        </p:nvSpPr>
        <p:spPr>
          <a:xfrm>
            <a:off x="3364992" y="3291840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1931"/>
                </a:solidFill>
              </a:rPr>
              <a:t>Handle all final-mile customer deliveries across the Texas network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218688" y="3730752"/>
            <a:ext cx="91440" cy="914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43" name="Text 41"/>
          <p:cNvSpPr/>
          <p:nvPr/>
        </p:nvSpPr>
        <p:spPr>
          <a:xfrm>
            <a:off x="3364992" y="3712464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1931"/>
                </a:solidFill>
              </a:rPr>
              <a:t>Performance and experience influence delivery speed and satisfaction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218688" y="4151376"/>
            <a:ext cx="91440" cy="914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45" name="Text 43"/>
          <p:cNvSpPr/>
          <p:nvPr/>
        </p:nvSpPr>
        <p:spPr>
          <a:xfrm>
            <a:off x="3364992" y="4133088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1931"/>
                </a:solidFill>
              </a:rPr>
              <a:t>Workforce mix: 85% Full-Time, 11% Part-Time, 4% Contract (55 total)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218688" y="4572000"/>
            <a:ext cx="91440" cy="914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47" name="Text 45"/>
          <p:cNvSpPr/>
          <p:nvPr/>
        </p:nvSpPr>
        <p:spPr>
          <a:xfrm>
            <a:off x="3364992" y="4553712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1931"/>
                </a:solidFill>
              </a:rPr>
              <a:t>Driver availability directly impacts delay rates and service reliability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080760" y="2907792"/>
            <a:ext cx="2852928" cy="20756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080760" y="2907792"/>
            <a:ext cx="2852928" cy="347472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50" name="Text 48"/>
          <p:cNvSpPr/>
          <p:nvPr/>
        </p:nvSpPr>
        <p:spPr>
          <a:xfrm>
            <a:off x="6172200" y="2926080"/>
            <a:ext cx="2670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3. Orders — Core Revenue &amp; Performance Metric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190488" y="3310128"/>
            <a:ext cx="91440" cy="91440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52" name="Text 50"/>
          <p:cNvSpPr/>
          <p:nvPr/>
        </p:nvSpPr>
        <p:spPr>
          <a:xfrm>
            <a:off x="6336792" y="3291840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1931"/>
                </a:solidFill>
              </a:rPr>
              <a:t>Represent customer delivery requests processed through the hub network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190488" y="3730752"/>
            <a:ext cx="91440" cy="91440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54" name="Text 52"/>
          <p:cNvSpPr/>
          <p:nvPr/>
        </p:nvSpPr>
        <p:spPr>
          <a:xfrm>
            <a:off x="6336792" y="3712464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1931"/>
                </a:solidFill>
              </a:rPr>
              <a:t>Tracked from order placement through hub processing to final delivery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190488" y="4151376"/>
            <a:ext cx="91440" cy="91440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56" name="Text 54"/>
          <p:cNvSpPr/>
          <p:nvPr/>
        </p:nvSpPr>
        <p:spPr>
          <a:xfrm>
            <a:off x="6336792" y="4133088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1931"/>
                </a:solidFill>
              </a:rPr>
              <a:t>27,979 total orders analyzed across all hubs and vehicle types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190488" y="4572000"/>
            <a:ext cx="91440" cy="91440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58" name="Text 56"/>
          <p:cNvSpPr/>
          <p:nvPr/>
        </p:nvSpPr>
        <p:spPr>
          <a:xfrm>
            <a:off x="6336792" y="4553712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1931"/>
                </a:solidFill>
              </a:rPr>
              <a:t>Key measure of operational output and commercial performance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137160" y="4873752"/>
            <a:ext cx="8869680" cy="256032"/>
          </a:xfrm>
          <a:prstGeom prst="rect">
            <a:avLst/>
          </a:prstGeom>
          <a:solidFill>
            <a:srgbClr val="D4E6F1"/>
          </a:solidFill>
          <a:ln/>
        </p:spPr>
      </p:sp>
      <p:sp>
        <p:nvSpPr>
          <p:cNvPr id="60" name="Text 58"/>
          <p:cNvSpPr/>
          <p:nvPr/>
        </p:nvSpPr>
        <p:spPr>
          <a:xfrm>
            <a:off x="228600" y="487375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1931"/>
                </a:solidFill>
              </a:rPr>
              <a:t>★  This hub model means hub efficiency, driver availability and vehicle reliability are the three primary levers of overall performance.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Executive Summary — Key Performance Indicators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2084832" cy="1417320"/>
          </a:xfrm>
          <a:prstGeom prst="rect">
            <a:avLst/>
          </a:prstGeom>
          <a:solidFill>
            <a:srgbClr val="0A193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841248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27,979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" y="161848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Total Orders Processed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82880" y="1920240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</a:rPr>
              <a:t>252 cancelled (0.9%)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395728" y="804672"/>
            <a:ext cx="2084832" cy="1417320"/>
          </a:xfrm>
          <a:prstGeom prst="rect">
            <a:avLst/>
          </a:prstGeom>
          <a:solidFill>
            <a:srgbClr val="1A8A9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95728" y="841248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78.9%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395728" y="161848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On-Time Delivery Rate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395728" y="1920240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</a:rPr>
              <a:t>22,071 on-time orders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08576" y="804672"/>
            <a:ext cx="2084832" cy="1417320"/>
          </a:xfrm>
          <a:prstGeom prst="rect">
            <a:avLst/>
          </a:prstGeom>
          <a:solidFill>
            <a:srgbClr val="E67E2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08576" y="841248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21.1%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08576" y="161848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Delay Rate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08576" y="1920240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</a:rPr>
              <a:t>5,908 delayed orders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821424" y="804672"/>
            <a:ext cx="2084832" cy="1417320"/>
          </a:xfrm>
          <a:prstGeom prst="rect">
            <a:avLst/>
          </a:prstGeom>
          <a:solidFill>
            <a:srgbClr val="1E844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21424" y="841248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4.17/5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821424" y="161848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Avg. Customer Satisfaction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821424" y="1920240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</a:rPr>
              <a:t>Scale of 1–5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82880" y="2359152"/>
            <a:ext cx="2084832" cy="1261872"/>
          </a:xfrm>
          <a:prstGeom prst="rect">
            <a:avLst/>
          </a:prstGeom>
          <a:solidFill>
            <a:srgbClr val="1B4F7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82880" y="2395728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35.78h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82880" y="3054096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E6F1"/>
                </a:solidFill>
              </a:rPr>
              <a:t>Avg. Delivery Time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82880" y="3310128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D4E6F1"/>
                </a:solidFill>
              </a:rPr>
              <a:t>Per order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395728" y="2359152"/>
            <a:ext cx="2084832" cy="1261872"/>
          </a:xfrm>
          <a:prstGeom prst="rect">
            <a:avLst/>
          </a:prstGeom>
          <a:solidFill>
            <a:srgbClr val="1B4F7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395728" y="2395728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1.97h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2395728" y="3054096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E6F1"/>
                </a:solidFill>
              </a:rPr>
              <a:t>Avg. Hub Processing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395728" y="3310128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D4E6F1"/>
                </a:solidFill>
              </a:rPr>
              <a:t>Per order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608576" y="2359152"/>
            <a:ext cx="2084832" cy="1261872"/>
          </a:xfrm>
          <a:prstGeom prst="rect">
            <a:avLst/>
          </a:prstGeom>
          <a:solidFill>
            <a:srgbClr val="1B4F7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608576" y="2395728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43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4608576" y="3054096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E6F1"/>
                </a:solidFill>
              </a:rPr>
              <a:t>Vehicles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08576" y="3310128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D4E6F1"/>
                </a:solidFill>
              </a:rPr>
              <a:t>31 active · 12 maintenance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821424" y="2359152"/>
            <a:ext cx="2084832" cy="1261872"/>
          </a:xfrm>
          <a:prstGeom prst="rect">
            <a:avLst/>
          </a:prstGeom>
          <a:solidFill>
            <a:srgbClr val="1B4F7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821424" y="2395728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55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821424" y="3054096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E6F1"/>
                </a:solidFill>
              </a:rPr>
              <a:t>Total Drivers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21424" y="3310128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D4E6F1"/>
                </a:solidFill>
              </a:rPr>
              <a:t>47 FT · 6 PT · 2 Contract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82880" y="3767328"/>
            <a:ext cx="8778240" cy="1170432"/>
          </a:xfrm>
          <a:prstGeom prst="rect">
            <a:avLst/>
          </a:prstGeom>
          <a:solidFill>
            <a:srgbClr val="D4E6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82880" y="3767328"/>
            <a:ext cx="109728" cy="1170432"/>
          </a:xfrm>
          <a:prstGeom prst="rect">
            <a:avLst/>
          </a:prstGeom>
          <a:solidFill>
            <a:srgbClr val="1A8A9A"/>
          </a:solidFill>
          <a:ln/>
        </p:spPr>
      </p:sp>
      <p:sp>
        <p:nvSpPr>
          <p:cNvPr id="38" name="Text 36"/>
          <p:cNvSpPr/>
          <p:nvPr/>
        </p:nvSpPr>
        <p:spPr>
          <a:xfrm>
            <a:off x="384048" y="3813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1A8A9A"/>
                </a:solidFill>
              </a:rPr>
              <a:t>KEY INSIGHT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84048" y="4069080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931"/>
                </a:solidFill>
              </a:rPr>
              <a:t>Operations processed nearly 28,000 orders across 6 Texas hubs with a competitive 78.9% on-time rate and strong 4.17/5 customer satisfaction. The 21.1% delay rate represents the primary area for operational improvement, with vehicle breakdown and road construction as leading controllable causes. El Paso Hub leads all hubs in on-time performance (80.57%), suggesting best practices that can be replicated network-wide.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Operations Dashboard — Delivery Performance &amp; Delay Analysis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" y="7132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931"/>
                </a:solidFill>
              </a:rPr>
              <a:t>Delivery Performance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481239217"/>
              </p:ext>
            </p:extLst>
          </p:nvPr>
        </p:nvGraphicFramePr>
        <p:xfrm>
          <a:off x="91440" y="987552"/>
          <a:ext cx="420624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617720" y="71323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931"/>
                </a:solidFill>
              </a:rPr>
              <a:t>Top Delay Causes</a:t>
            </a:r>
            <a:endParaRPr lang="en-US" sz="11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4572000" y="987552"/>
          <a:ext cx="443484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91440" y="3703320"/>
            <a:ext cx="8961120" cy="18288"/>
          </a:xfrm>
          <a:prstGeom prst="rect">
            <a:avLst/>
          </a:prstGeom>
          <a:solidFill>
            <a:srgbClr val="D4E6F1"/>
          </a:solidFill>
          <a:ln/>
        </p:spPr>
      </p:sp>
      <p:sp>
        <p:nvSpPr>
          <p:cNvPr id="9" name="Shape 5"/>
          <p:cNvSpPr/>
          <p:nvPr/>
        </p:nvSpPr>
        <p:spPr>
          <a:xfrm>
            <a:off x="137160" y="3749040"/>
            <a:ext cx="2103120" cy="1216152"/>
          </a:xfrm>
          <a:prstGeom prst="rect">
            <a:avLst/>
          </a:prstGeom>
          <a:solidFill>
            <a:srgbClr val="0A193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137160" y="3785616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78.9%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7160" y="43616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D4E6F1"/>
                </a:solidFill>
              </a:rPr>
              <a:t>Network On-Time Rate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2377440" y="3749040"/>
            <a:ext cx="2103120" cy="1216152"/>
          </a:xfrm>
          <a:prstGeom prst="rect">
            <a:avLst/>
          </a:prstGeom>
          <a:solidFill>
            <a:srgbClr val="1B4F7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2377440" y="3785616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21.1%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2377440" y="43616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D4E6F1"/>
                </a:solidFill>
              </a:rPr>
              <a:t>Overall Delay Rate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4617720" y="3749040"/>
            <a:ext cx="2103120" cy="1216152"/>
          </a:xfrm>
          <a:prstGeom prst="rect">
            <a:avLst/>
          </a:prstGeom>
          <a:solidFill>
            <a:srgbClr val="0A193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617720" y="3785616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Road &amp; Breakdown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617720" y="43616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D4E6F1"/>
                </a:solidFill>
              </a:rPr>
              <a:t>Top Delay Categories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858000" y="3749040"/>
            <a:ext cx="2103120" cy="1216152"/>
          </a:xfrm>
          <a:prstGeom prst="rect">
            <a:avLst/>
          </a:prstGeom>
          <a:solidFill>
            <a:srgbClr val="1B4F7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858000" y="3785616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10 Types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858000" y="43616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D4E6F1"/>
                </a:solidFill>
              </a:rPr>
              <a:t>Identified Delay Causes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Hub Network Performance Analysis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" y="713232"/>
            <a:ext cx="5303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931"/>
                </a:solidFill>
              </a:rPr>
              <a:t>Order Volume by Hub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91440" y="960120"/>
          <a:ext cx="530352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577840" y="713232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931"/>
                </a:solidFill>
              </a:rPr>
              <a:t>On-Time Rate by Hub (%)</a:t>
            </a:r>
            <a:endParaRPr lang="en-US" sz="11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5532120" y="960120"/>
          <a:ext cx="342900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002544"/>
              </p:ext>
            </p:extLst>
          </p:nvPr>
        </p:nvGraphicFramePr>
        <p:xfrm>
          <a:off x="103909" y="3220212"/>
          <a:ext cx="8948651" cy="1653540"/>
        </p:xfrm>
        <a:graphic>
          <a:graphicData uri="http://schemas.openxmlformats.org/drawingml/2006/table">
            <a:tbl>
              <a:tblPr/>
              <a:tblGrid>
                <a:gridCol w="22735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Hub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Capacity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Orders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On-Time 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Avg Sat.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Dallas Main Hub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250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7,345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A1931"/>
                          </a:solidFill>
                        </a:rPr>
                        <a:t>78.9%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4.17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Houston Hub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380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6,875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A1931"/>
                          </a:solidFill>
                        </a:rPr>
                        <a:t>79.1%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4.17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Austin Hub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220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4,065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A1931"/>
                          </a:solidFill>
                        </a:rPr>
                        <a:t>77.9%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4.15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San Antonio Hub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3,721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A1931"/>
                          </a:solidFill>
                        </a:rPr>
                        <a:t>78.7%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4.16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Fort Worth Hub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180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3,255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A1931"/>
                          </a:solidFill>
                        </a:rPr>
                        <a:t>78.5%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4.17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El Paso Hub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150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2,718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8449"/>
                          </a:solidFill>
                        </a:rPr>
                        <a:t>80.6%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4.19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91440" y="4873752"/>
            <a:ext cx="8961120" cy="256032"/>
          </a:xfrm>
          <a:prstGeom prst="rect">
            <a:avLst/>
          </a:prstGeom>
          <a:solidFill>
            <a:srgbClr val="1A8A9A"/>
          </a:solidFill>
          <a:ln/>
        </p:spPr>
      </p:sp>
      <p:sp>
        <p:nvSpPr>
          <p:cNvPr id="10" name="Text 5"/>
          <p:cNvSpPr/>
          <p:nvPr/>
        </p:nvSpPr>
        <p:spPr>
          <a:xfrm>
            <a:off x="182880" y="4873752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★  El Paso Hub leads on-time delivery at 80.57% despite the smallest capacity — Dallas Main Hub handles the highest volume at 7,345 orders.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 Vehicle Performance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" y="713232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931"/>
                </a:solidFill>
              </a:rPr>
              <a:t>Vehicle Status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91440" y="960120"/>
          <a:ext cx="292608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3154680" y="713232"/>
            <a:ext cx="2834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931"/>
                </a:solidFill>
              </a:rPr>
              <a:t>Orders by Vehicle Type</a:t>
            </a:r>
            <a:endParaRPr lang="en-US" sz="11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3108960" y="960120"/>
          <a:ext cx="292608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6172200" y="713232"/>
            <a:ext cx="2834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931"/>
                </a:solidFill>
              </a:rPr>
              <a:t>Vehicle Composition by Model</a:t>
            </a:r>
            <a:endParaRPr lang="en-US" sz="1100" dirty="0"/>
          </a:p>
        </p:txBody>
      </p:sp>
      <p:graphicFrame>
        <p:nvGraphicFramePr>
          <p:cNvPr id="9" name="Chart 2"/>
          <p:cNvGraphicFramePr/>
          <p:nvPr/>
        </p:nvGraphicFramePr>
        <p:xfrm>
          <a:off x="6126480" y="960120"/>
          <a:ext cx="292608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Shape 5"/>
          <p:cNvSpPr/>
          <p:nvPr/>
        </p:nvSpPr>
        <p:spPr>
          <a:xfrm>
            <a:off x="91440" y="3456432"/>
            <a:ext cx="1719072" cy="1024128"/>
          </a:xfrm>
          <a:prstGeom prst="rect">
            <a:avLst/>
          </a:prstGeom>
          <a:solidFill>
            <a:srgbClr val="0A193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6"/>
          <p:cNvSpPr/>
          <p:nvPr/>
        </p:nvSpPr>
        <p:spPr>
          <a:xfrm>
            <a:off x="91440" y="349300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43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91440" y="3977640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E6F1"/>
                </a:solidFill>
              </a:rPr>
              <a:t>Total Vehicles</a:t>
            </a:r>
            <a:endParaRPr lang="en-US" sz="800" dirty="0"/>
          </a:p>
        </p:txBody>
      </p:sp>
      <p:sp>
        <p:nvSpPr>
          <p:cNvPr id="13" name="Shape 8"/>
          <p:cNvSpPr/>
          <p:nvPr/>
        </p:nvSpPr>
        <p:spPr>
          <a:xfrm>
            <a:off x="1883664" y="3456432"/>
            <a:ext cx="1719072" cy="1024128"/>
          </a:xfrm>
          <a:prstGeom prst="rect">
            <a:avLst/>
          </a:prstGeom>
          <a:solidFill>
            <a:srgbClr val="1E844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1883664" y="349300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31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1883664" y="3977640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E6F1"/>
                </a:solidFill>
              </a:rPr>
              <a:t>Active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3675888" y="3456432"/>
            <a:ext cx="1719072" cy="1024128"/>
          </a:xfrm>
          <a:prstGeom prst="rect">
            <a:avLst/>
          </a:prstGeom>
          <a:solidFill>
            <a:srgbClr val="E67E2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3675888" y="349300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12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3675888" y="3977640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E6F1"/>
                </a:solidFill>
              </a:rPr>
              <a:t>In Maintenance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5468112" y="3456432"/>
            <a:ext cx="1719072" cy="1024128"/>
          </a:xfrm>
          <a:prstGeom prst="rect">
            <a:avLst/>
          </a:prstGeom>
          <a:solidFill>
            <a:srgbClr val="C0392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5468112" y="349300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12.2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5468112" y="3977640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E6F1"/>
                </a:solidFill>
              </a:rPr>
              <a:t>Avg. Breakdowns/Vehicle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7260336" y="3456432"/>
            <a:ext cx="1719072" cy="1024128"/>
          </a:xfrm>
          <a:prstGeom prst="rect">
            <a:avLst/>
          </a:prstGeom>
          <a:solidFill>
            <a:srgbClr val="1A8A9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7260336" y="349300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Van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7260336" y="3977640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E6F1"/>
                </a:solidFill>
              </a:rPr>
              <a:t>Most Used Type (62.5%)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91440" y="4590288"/>
            <a:ext cx="8961120" cy="502920"/>
          </a:xfrm>
          <a:prstGeom prst="rect">
            <a:avLst/>
          </a:prstGeom>
          <a:solidFill>
            <a:srgbClr val="D4E6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1440" y="4590288"/>
            <a:ext cx="91440" cy="5029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7" name="Text 22"/>
          <p:cNvSpPr/>
          <p:nvPr/>
        </p:nvSpPr>
        <p:spPr>
          <a:xfrm>
            <a:off x="256032" y="4608576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1931"/>
                </a:solidFill>
              </a:rPr>
              <a:t>⚠  28% of the vehicles are currently in maintenance — a high rate that directly contributes to the 'Vehicle Breakdown' delay category (623 instances). Vans dominate operations at 62.5% of orders. An average of 12.2 breakdowns per vehicle warrants a preventive maintenance programme.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Driver Workforce &amp; Performance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" y="713232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931"/>
                </a:solidFill>
              </a:rPr>
              <a:t>Employment Type Mix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91440" y="960120"/>
          <a:ext cx="320040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3429000" y="713232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931"/>
                </a:solidFill>
              </a:rPr>
              <a:t>Top Drivers by Order Volume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83280" y="960120"/>
          <a:ext cx="5577840" cy="23317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Driver Name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Orders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On-Time 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Avg Sat.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Charles Thompson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1531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A1931"/>
                          </a:solidFill>
                        </a:rPr>
                        <a:t>78.8%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4.20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Lisa Taylor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1286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A1931"/>
                          </a:solidFill>
                        </a:rPr>
                        <a:t>79.9%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4.18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Karen Rodriguez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1233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A1931"/>
                          </a:solidFill>
                        </a:rPr>
                        <a:t>77.8%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4.14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Linda Taylor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1202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A1931"/>
                          </a:solidFill>
                        </a:rPr>
                        <a:t>78.4%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4.16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Jennifer White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834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A1931"/>
                          </a:solidFill>
                        </a:rPr>
                        <a:t>78.8%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4.18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Donald Martin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804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A1931"/>
                          </a:solidFill>
                        </a:rPr>
                        <a:t>78.9%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4.15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David Davis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795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A1931"/>
                          </a:solidFill>
                        </a:rPr>
                        <a:t>79.5%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4.16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Elizabeth Harris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669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8449"/>
                          </a:solidFill>
                        </a:rPr>
                        <a:t>80.1%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4.17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91440" y="3401568"/>
            <a:ext cx="1719072" cy="1024128"/>
          </a:xfrm>
          <a:prstGeom prst="rect">
            <a:avLst/>
          </a:prstGeom>
          <a:solidFill>
            <a:srgbClr val="0A193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" y="3438144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55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91440" y="3922776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E6F1"/>
                </a:solidFill>
              </a:rPr>
              <a:t>Total Drivers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1883664" y="3401568"/>
            <a:ext cx="1719072" cy="1024128"/>
          </a:xfrm>
          <a:prstGeom prst="rect">
            <a:avLst/>
          </a:prstGeom>
          <a:solidFill>
            <a:srgbClr val="1B4F7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1883664" y="3438144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85%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1883664" y="3922776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E6F1"/>
                </a:solidFill>
              </a:rPr>
              <a:t>Full-Time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3675888" y="3401568"/>
            <a:ext cx="1719072" cy="1024128"/>
          </a:xfrm>
          <a:prstGeom prst="rect">
            <a:avLst/>
          </a:prstGeom>
          <a:solidFill>
            <a:srgbClr val="1A8A9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3675888" y="3438144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4.2y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3675888" y="3922776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E6F1"/>
                </a:solidFill>
              </a:rPr>
              <a:t>Avg. Experience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5468112" y="3401568"/>
            <a:ext cx="1719072" cy="1024128"/>
          </a:xfrm>
          <a:prstGeom prst="rect">
            <a:avLst/>
          </a:prstGeom>
          <a:solidFill>
            <a:srgbClr val="5DADE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5468112" y="3438144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3.58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5468112" y="3922776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E6F1"/>
                </a:solidFill>
              </a:rPr>
              <a:t>Avg. Performance Rtg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7260336" y="3401568"/>
            <a:ext cx="1719072" cy="1024128"/>
          </a:xfrm>
          <a:prstGeom prst="rect">
            <a:avLst/>
          </a:prstGeom>
          <a:solidFill>
            <a:srgbClr val="1E844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7260336" y="3438144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79.9%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7260336" y="3922776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E6F1"/>
                </a:solidFill>
              </a:rPr>
              <a:t>Best On-Time Rate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91440" y="4544568"/>
            <a:ext cx="8961120" cy="548640"/>
          </a:xfrm>
          <a:prstGeom prst="rect">
            <a:avLst/>
          </a:prstGeom>
          <a:solidFill>
            <a:srgbClr val="D4E6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91440" y="4544568"/>
            <a:ext cx="91440" cy="548640"/>
          </a:xfrm>
          <a:prstGeom prst="rect">
            <a:avLst/>
          </a:prstGeom>
          <a:solidFill>
            <a:srgbClr val="1A8A9A"/>
          </a:solidFill>
          <a:ln/>
        </p:spPr>
      </p:sp>
      <p:sp>
        <p:nvSpPr>
          <p:cNvPr id="25" name="Text 21"/>
          <p:cNvSpPr/>
          <p:nvPr/>
        </p:nvSpPr>
        <p:spPr>
          <a:xfrm>
            <a:off x="256032" y="4562856"/>
            <a:ext cx="8686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1931"/>
                </a:solidFill>
              </a:rPr>
              <a:t>Charles Thompson leads in order volume (1,531). Lisa Taylor and Elizabeth Harris show the highest on-time rates among top performers. An average performance rating of 3.58/5 and 4.2 years experience indicates a moderately experienced team with upside from targeted coaching and incentive programmes.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Key Insights &amp; Strategic Recommendations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" y="777240"/>
            <a:ext cx="4389120" cy="1298448"/>
          </a:xfrm>
          <a:prstGeom prst="rect">
            <a:avLst/>
          </a:prstGeom>
          <a:solidFill>
            <a:srgbClr val="FFF0E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" y="777240"/>
            <a:ext cx="91440" cy="12984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301752" y="850392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</a:rPr>
              <a:t>🚛  Vehicle Maintenance (Priority 1)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01752" y="1124712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1931"/>
                </a:solidFill>
              </a:rPr>
              <a:t>28% of vehicles are in maintenance simultaneously, directly causing 623 breakdown-related delays. Implement a staggered preventive maintenance schedule to keep vehicle availability above 85%.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4389120" cy="1298448"/>
          </a:xfrm>
          <a:prstGeom prst="rect">
            <a:avLst/>
          </a:prstGeom>
          <a:solidFill>
            <a:srgbClr val="FEF9E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777240"/>
            <a:ext cx="91440" cy="129844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0" name="Text 8"/>
          <p:cNvSpPr/>
          <p:nvPr/>
        </p:nvSpPr>
        <p:spPr>
          <a:xfrm>
            <a:off x="4828032" y="850392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7E22"/>
                </a:solidFill>
              </a:rPr>
              <a:t>📦  Sorting &amp; Processing Errors (Priority 2)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28032" y="1124712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1931"/>
                </a:solidFill>
              </a:rPr>
              <a:t>Package Sorting Error (603 cases) and Hub Processing Delay (589 cases) are internally controllable. Standardising hub SOPs and replicating El Paso Hub's best practices could reclaim ~2–3% on-time rate.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37160" y="2194560"/>
            <a:ext cx="4389120" cy="1298448"/>
          </a:xfrm>
          <a:prstGeom prst="rect">
            <a:avLst/>
          </a:prstGeom>
          <a:solidFill>
            <a:srgbClr val="EBF5F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37160" y="2194560"/>
            <a:ext cx="91440" cy="129844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4" name="Text 12"/>
          <p:cNvSpPr/>
          <p:nvPr/>
        </p:nvSpPr>
        <p:spPr>
          <a:xfrm>
            <a:off x="301752" y="2267712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F72"/>
                </a:solidFill>
              </a:rPr>
              <a:t>🧑‍✈️  Driver Availability &amp; Performance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01752" y="2542032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1931"/>
                </a:solidFill>
              </a:rPr>
              <a:t>Driver Unavailable accounts for 595 delays. With 11% part-time workforce, peak-hour staffing gaps are likely. Adjust scheduling and consider converting high-performing part-timers to full-time.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63440" y="2194560"/>
            <a:ext cx="4389120" cy="1298448"/>
          </a:xfrm>
          <a:prstGeom prst="rect">
            <a:avLst/>
          </a:prstGeom>
          <a:solidFill>
            <a:srgbClr val="E8F8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194560"/>
            <a:ext cx="91440" cy="1298448"/>
          </a:xfrm>
          <a:prstGeom prst="rect">
            <a:avLst/>
          </a:prstGeom>
          <a:solidFill>
            <a:srgbClr val="1A8A9A"/>
          </a:solidFill>
          <a:ln/>
        </p:spPr>
      </p:sp>
      <p:sp>
        <p:nvSpPr>
          <p:cNvPr id="18" name="Text 16"/>
          <p:cNvSpPr/>
          <p:nvPr/>
        </p:nvSpPr>
        <p:spPr>
          <a:xfrm>
            <a:off x="4828032" y="2267712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8A9A"/>
                </a:solidFill>
              </a:rPr>
              <a:t>📍  Hub Capacity Optimisation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28032" y="2542032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1931"/>
                </a:solidFill>
              </a:rPr>
              <a:t>Dallas Main Hub processes 26% of all orders with only 250-unit capacity vs Houston's 380. Reassigning volume or expanding Dallas capacity can reduce processing bottlenecks.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37160" y="3611880"/>
            <a:ext cx="4389120" cy="1298448"/>
          </a:xfrm>
          <a:prstGeom prst="rect">
            <a:avLst/>
          </a:prstGeom>
          <a:solidFill>
            <a:srgbClr val="EAFA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37160" y="3611880"/>
            <a:ext cx="91440" cy="129844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22" name="Text 20"/>
          <p:cNvSpPr/>
          <p:nvPr/>
        </p:nvSpPr>
        <p:spPr>
          <a:xfrm>
            <a:off x="301752" y="3685032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8449"/>
                </a:solidFill>
              </a:rPr>
              <a:t>⭐  Customer Satisfaction Consistency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01752" y="3959352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1931"/>
                </a:solidFill>
              </a:rPr>
              <a:t>Overall, 4.17/5 satisfaction is strong and consistent across hubs (range: 4.15–4.19). Sustain this by resolving delay root causes, as on-time delivery is the primary satisfaction driver.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3611880"/>
            <a:ext cx="4389120" cy="1298448"/>
          </a:xfrm>
          <a:prstGeom prst="rect">
            <a:avLst/>
          </a:prstGeom>
          <a:solidFill>
            <a:srgbClr val="EBF2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611880"/>
            <a:ext cx="91440" cy="1298448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26" name="Text 24"/>
          <p:cNvSpPr/>
          <p:nvPr/>
        </p:nvSpPr>
        <p:spPr>
          <a:xfrm>
            <a:off x="4828032" y="3685032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931"/>
                </a:solidFill>
              </a:rPr>
              <a:t>🗺️  Replicate El Paso's Success Model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28032" y="3959352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1931"/>
                </a:solidFill>
              </a:rPr>
              <a:t>El Paso Hub achieves the highest on-time rate (80.57%) with the smallest capacity (150). Audit El Paso operations, document processes, and use as the network benchmark.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A8A9A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54864"/>
          </a:xfrm>
          <a:prstGeom prst="rect">
            <a:avLst/>
          </a:prstGeom>
          <a:solidFill>
            <a:srgbClr val="1A8A9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74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A8A9A"/>
                </a:solidFill>
              </a:rPr>
              <a:t>CONCLUSION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Foundation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Clear Growth Levers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2212848"/>
            <a:ext cx="3200400" cy="36576"/>
          </a:xfrm>
          <a:prstGeom prst="rect">
            <a:avLst/>
          </a:prstGeom>
          <a:solidFill>
            <a:srgbClr val="5DADE2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359152"/>
            <a:ext cx="201168" cy="201168"/>
          </a:xfrm>
          <a:prstGeom prst="rect">
            <a:avLst/>
          </a:prstGeom>
          <a:solidFill>
            <a:srgbClr val="1A8A9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340864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78.9% on-time rate across 27,979 orders demonstrates solid operational capacity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798064"/>
            <a:ext cx="201168" cy="201168"/>
          </a:xfrm>
          <a:prstGeom prst="rect">
            <a:avLst/>
          </a:prstGeom>
          <a:solidFill>
            <a:srgbClr val="1A8A9A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779776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4.17/5 customer satisfaction confirms service quality — protect and build on this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236976"/>
            <a:ext cx="201168" cy="201168"/>
          </a:xfrm>
          <a:prstGeom prst="rect">
            <a:avLst/>
          </a:prstGeom>
          <a:solidFill>
            <a:srgbClr val="1A8A9A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321868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Reducing the 21.1% delay rate by just 5% would reclaim ~1,400 additional on-time deliveries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675888"/>
            <a:ext cx="201168" cy="201168"/>
          </a:xfrm>
          <a:prstGeom prst="rect">
            <a:avLst/>
          </a:prstGeom>
          <a:solidFill>
            <a:srgbClr val="1A8A9A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365760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Vehicle maintenance reform and hub process standardisation are the fastest paths to improvement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4114800"/>
            <a:ext cx="201168" cy="201168"/>
          </a:xfrm>
          <a:prstGeom prst="rect">
            <a:avLst/>
          </a:prstGeom>
          <a:solidFill>
            <a:srgbClr val="1A8A9A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09651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El Paso Hub's efficiency model provides a ready blueprint for the entire network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A8A9A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54864"/>
          </a:xfrm>
          <a:prstGeom prst="rect">
            <a:avLst/>
          </a:prstGeom>
          <a:solidFill>
            <a:srgbClr val="1A8A9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9144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2286000" y="2450592"/>
            <a:ext cx="4572000" cy="45720"/>
          </a:xfrm>
          <a:prstGeom prst="rect">
            <a:avLst/>
          </a:prstGeom>
          <a:solidFill>
            <a:srgbClr val="1A8A9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5786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D4E6F1"/>
                </a:solidFill>
              </a:rPr>
              <a:t>Transport &amp; Logistics Operations Performance Review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3127248"/>
            <a:ext cx="1828800" cy="1005840"/>
          </a:xfrm>
          <a:prstGeom prst="rect">
            <a:avLst/>
          </a:prstGeom>
          <a:solidFill>
            <a:srgbClr val="1B4F7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316382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DADE2"/>
                </a:solidFill>
              </a:rPr>
              <a:t>27,979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367588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D4E6F1"/>
                </a:solidFill>
              </a:rPr>
              <a:t>Orders Analyzed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06040" y="3127248"/>
            <a:ext cx="1828800" cy="1005840"/>
          </a:xfrm>
          <a:prstGeom prst="rect">
            <a:avLst/>
          </a:prstGeom>
          <a:solidFill>
            <a:srgbClr val="1B4F7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06040" y="316382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DADE2"/>
                </a:solidFill>
              </a:rPr>
              <a:t>6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06040" y="367588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D4E6F1"/>
                </a:solidFill>
              </a:rPr>
              <a:t>Hubs Evaluated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17720" y="3127248"/>
            <a:ext cx="1828800" cy="1005840"/>
          </a:xfrm>
          <a:prstGeom prst="rect">
            <a:avLst/>
          </a:prstGeom>
          <a:solidFill>
            <a:srgbClr val="1B4F7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17720" y="316382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DADE2"/>
                </a:solidFill>
              </a:rPr>
              <a:t>55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17720" y="367588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D4E6F1"/>
                </a:solidFill>
              </a:rPr>
              <a:t>Drivers Assessed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629400" y="3127248"/>
            <a:ext cx="1828800" cy="1005840"/>
          </a:xfrm>
          <a:prstGeom prst="rect">
            <a:avLst/>
          </a:prstGeom>
          <a:solidFill>
            <a:srgbClr val="1B4F7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29400" y="316382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DADE2"/>
                </a:solidFill>
              </a:rPr>
              <a:t>4.17/5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629400" y="367588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D4E6F1"/>
                </a:solidFill>
              </a:rPr>
              <a:t>Customer Satisfaction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</a:rPr>
              <a:t>Prepared by the Excel Team  ·  Texas Region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6745</TotalTime>
  <Words>1216</Words>
  <Application>Microsoft Office PowerPoint</Application>
  <PresentationFormat>On-screen Show (16:9)</PresentationFormat>
  <Paragraphs>271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Transport &amp; Logistics Operations Report</dc:title>
  <dc:subject>PptxGenJS Presentation</dc:subject>
  <dc:creator>PptxGenJS</dc:creator>
  <cp:lastModifiedBy>Eniola Adebayo</cp:lastModifiedBy>
  <cp:revision>9</cp:revision>
  <dcterms:created xsi:type="dcterms:W3CDTF">2026-05-14T19:12:24Z</dcterms:created>
  <dcterms:modified xsi:type="dcterms:W3CDTF">2026-05-20T04:27:23Z</dcterms:modified>
</cp:coreProperties>
</file>